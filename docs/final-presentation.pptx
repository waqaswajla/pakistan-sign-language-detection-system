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96" r:id="rId4"/>
    <p:sldId id="301" r:id="rId5"/>
    <p:sldId id="286" r:id="rId6"/>
    <p:sldId id="298" r:id="rId7"/>
    <p:sldId id="297" r:id="rId8"/>
    <p:sldId id="299" r:id="rId9"/>
    <p:sldId id="300" r:id="rId10"/>
    <p:sldId id="279" r:id="rId11"/>
    <p:sldId id="291" r:id="rId12"/>
    <p:sldId id="28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0B2D1B-11C4-41B6-AB70-B8988BF20A02}">
          <p14:sldIdLst>
            <p14:sldId id="256"/>
            <p14:sldId id="257"/>
            <p14:sldId id="296"/>
            <p14:sldId id="301"/>
          </p14:sldIdLst>
        </p14:section>
        <p14:section name="Untitled Section" id="{0B06FABF-6A54-4B17-BE26-142FA568A18A}">
          <p14:sldIdLst>
            <p14:sldId id="286"/>
            <p14:sldId id="298"/>
            <p14:sldId id="297"/>
            <p14:sldId id="299"/>
            <p14:sldId id="300"/>
            <p14:sldId id="279"/>
            <p14:sldId id="291"/>
            <p14:sldId id="287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70"/>
  </p:normalViewPr>
  <p:slideViewPr>
    <p:cSldViewPr snapToGrid="0" snapToObjects="1">
      <p:cViewPr varScale="1">
        <p:scale>
          <a:sx n="82" d="100"/>
          <a:sy n="82" d="100"/>
        </p:scale>
        <p:origin x="87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A8FEB-287E-7449-85E7-A927F7CB73B1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D4E81-1DD6-1240-8180-8C16B23C81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4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0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1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4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2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5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2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D9CA-177E-AF41-A87D-6A332E9A2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LinguaSign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AI-Based Vision-Language System for Real-Time Sign-to-Speech Conversion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K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22565"/>
          </a:xfrm>
        </p:spPr>
        <p:txBody>
          <a:bodyPr>
            <a:normAutofit lnSpcReduction="10000"/>
          </a:bodyPr>
          <a:lstStyle/>
          <a:p>
            <a:r>
              <a:rPr dirty="0"/>
              <a:t>By </a:t>
            </a:r>
            <a:endParaRPr lang="en-US" dirty="0"/>
          </a:p>
          <a:p>
            <a:r>
              <a:rPr lang="en-US" dirty="0"/>
              <a:t>Abdul Wahid – 22-CS-090</a:t>
            </a:r>
            <a:endParaRPr dirty="0"/>
          </a:p>
          <a:p>
            <a:r>
              <a:rPr dirty="0"/>
              <a:t>Muhammad</a:t>
            </a:r>
            <a:r>
              <a:rPr lang="en-US" dirty="0"/>
              <a:t> Moiz Ur Rehman – 22-CS-100</a:t>
            </a:r>
            <a:endParaRPr dirty="0"/>
          </a:p>
          <a:p>
            <a:r>
              <a:rPr lang="en-US" dirty="0"/>
              <a:t>Waqas Ahmed – 22-CS-105</a:t>
            </a:r>
            <a:endParaRPr dirty="0"/>
          </a:p>
          <a:p>
            <a:r>
              <a:rPr dirty="0"/>
              <a:t>Supervisor: Dr. Samia Ijaz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 descr="f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67150" y="52232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Year Project </a:t>
            </a:r>
            <a:r>
              <a:rPr lang="mr-IN" b="1" dirty="0"/>
              <a:t>–</a:t>
            </a:r>
            <a:r>
              <a:rPr lang="en-US" b="1" dirty="0"/>
              <a:t> Presentation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51E5-2C94-BD7D-B502-0977BFB45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</p:spTree>
    <p:extLst>
      <p:ext uri="{BB962C8B-B14F-4D97-AF65-F5344CB8AC3E}">
        <p14:creationId xmlns:p14="http://schemas.microsoft.com/office/powerpoint/2010/main" val="177755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233" y="155584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No widely available, reliable real-time system exists to translate Pakistan Sign Language (PSL) into Urdu text and speech. </a:t>
            </a:r>
          </a:p>
          <a:p>
            <a:pPr algn="just"/>
            <a:r>
              <a:rPr lang="en-US" sz="2400" dirty="0"/>
              <a:t>Existing solutions often require specialized hardware, support limited vocabularies, or lack reliable real-time recognition, making them impractical for everyday communication. </a:t>
            </a:r>
          </a:p>
          <a:p>
            <a:pPr algn="just"/>
            <a:r>
              <a:rPr lang="en-US" sz="2400" dirty="0"/>
              <a:t>An accessible, AI-powered Pakistani Sign Language (PSL) recognition system is needed to accurately translate gestures into Urdu text and speech, helping bridge the communication gap</a:t>
            </a:r>
            <a:endParaRPr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3DE83-A014-E23A-32A2-A991196B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0A6B8-4EA5-F57D-9C24-BF71DCA8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D29CF4-BDAA-7385-184D-4DA29DD0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  <p:pic>
        <p:nvPicPr>
          <p:cNvPr id="6" name="Picture 5" descr="fav.png">
            <a:extLst>
              <a:ext uri="{FF2B5EF4-FFF2-40B4-BE49-F238E27FC236}">
                <a16:creationId xmlns:a16="http://schemas.microsoft.com/office/drawing/2014/main" id="{E42D4DE9-34D7-3B41-A165-C461A01C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FD6B-FC12-66DC-74A2-EF443854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DCED-A0A5-71AA-1D82-752D18DD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7DA1-0EA5-E0B8-90EF-78763D81C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67818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real-time Pakistan Sign Language (PSL) recognition system with 98.6% accuracy using a lightweight MLP model.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full-stack web app using Next.js and FastAPI with live MJPEG streaming and REST API integration.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Urdu speech output to convert recognized signs into spoken words for communication assistance.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system as an offline-capable.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 sentence builder feature to compose recognized letters and words </a:t>
            </a:r>
            <a:endParaRPr lang="en-US" sz="2400" dirty="0"/>
          </a:p>
          <a:p>
            <a:endParaRPr lang="en-US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B4951-B349-E7FF-F705-E06C4D35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7155C-7EC7-78FE-ACF9-3BEA5A1F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47F1-601B-6D31-B172-87A4428B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C7C51FC6-641A-CB74-E74C-32C94C008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5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7A5E-DC2C-54E3-12D9-FC348F62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6BEC-83B9-438A-3A60-95BAD731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33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789A-72AF-4F52-D07D-88D61419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B7B6-D827-BFAD-5AB5-33288938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19154-0F1E-9648-0DD9-B122442A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8C0CD03A-AB0C-982B-4E0C-4B6CD5ECB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417EC-11E7-D542-3BC2-465B259D0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0"/>
            <a:ext cx="5277925" cy="64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EBB0-D28D-468D-FD7D-B7E5D785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1393AFD-C222-A2FA-F23B-BEDE266A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6" y="136525"/>
            <a:ext cx="11263604" cy="1314239"/>
          </a:xfrm>
        </p:spPr>
        <p:txBody>
          <a:bodyPr/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AI Model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6B0128-7208-4D21-E0C2-A78273A95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21998" y="1633650"/>
            <a:ext cx="6257146" cy="459999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5FC66C-7CFC-D648-9510-628B53320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633650"/>
            <a:ext cx="5844658" cy="3018599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Dataset:</a:t>
            </a:r>
            <a:r>
              <a:rPr lang="en-US" sz="2400" dirty="0"/>
              <a:t> Custom Pakistani Sign Language (PSL) Dataset (38 Classes) </a:t>
            </a:r>
          </a:p>
          <a:p>
            <a:r>
              <a:rPr lang="en-US" sz="2400" b="1" dirty="0"/>
              <a:t>Model:</a:t>
            </a:r>
            <a:r>
              <a:rPr lang="en-US" sz="2400" dirty="0"/>
              <a:t> Multilayer Perceptron (MLP) with </a:t>
            </a:r>
            <a:r>
              <a:rPr lang="en-US" sz="2400" dirty="0" err="1"/>
              <a:t>MediaPipe</a:t>
            </a:r>
            <a:r>
              <a:rPr lang="en-US" sz="2400" dirty="0"/>
              <a:t> Hand Landmarks </a:t>
            </a:r>
          </a:p>
          <a:p>
            <a:r>
              <a:rPr lang="en-US" sz="2400" b="1" dirty="0"/>
              <a:t>Process:</a:t>
            </a:r>
            <a:r>
              <a:rPr lang="en-US" sz="2400" dirty="0"/>
              <a:t> Hand Landmark Detection → Preprocessing → Feature Normalization → MLP Classification → Label Encoding</a:t>
            </a:r>
          </a:p>
          <a:p>
            <a:r>
              <a:rPr lang="en-US" sz="2400" dirty="0"/>
              <a:t> </a:t>
            </a:r>
            <a:r>
              <a:rPr lang="en-US" sz="2400" b="1" dirty="0"/>
              <a:t>Output:</a:t>
            </a:r>
            <a:r>
              <a:rPr lang="en-US" sz="2400" dirty="0"/>
              <a:t> Real-time Urdu Text and Natural Urdu Speech (Microsoft Edge TTS)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5A76800A-41FC-AEE9-26DB-2138E111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8487A71F-8F4E-2048-08D1-00D938CC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E83D8-F87B-BD83-A810-20020013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E0EDCBAD-C7BA-0870-7C05-D0F8C6FE7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FE5EED4-D005-644D-EA89-BBB531CEC69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94D9CA-177E-AF41-A87D-6A332E9A24C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09C6-6B59-990C-370F-A860D3E9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WORKING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B9589-BD4B-7D06-53E4-AD8F9661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F06B6-6A71-97BB-F140-031EBC79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5F507-F24C-3C20-49E9-9C4E686C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Screen Recording 2026-05-20 110128">
            <a:hlinkClick r:id="" action="ppaction://media"/>
            <a:extLst>
              <a:ext uri="{FF2B5EF4-FFF2-40B4-BE49-F238E27FC236}">
                <a16:creationId xmlns:a16="http://schemas.microsoft.com/office/drawing/2014/main" id="{FB40B49F-5951-549E-FA1E-C0BAD813216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43050" y="1835785"/>
            <a:ext cx="9105900" cy="4351338"/>
          </a:xfrm>
        </p:spPr>
      </p:pic>
    </p:spTree>
    <p:extLst>
      <p:ext uri="{BB962C8B-B14F-4D97-AF65-F5344CB8AC3E}">
        <p14:creationId xmlns:p14="http://schemas.microsoft.com/office/powerpoint/2010/main" val="348305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53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B5B81-0BB9-0E55-2345-FEAB6992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90FBCD7-2B94-72B0-D5E9-F22D31D2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349425"/>
            <a:ext cx="105156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DCDA2-1F7E-97AE-E3D1-474A66550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935" y="1692535"/>
            <a:ext cx="4732176" cy="3772742"/>
          </a:xfrm>
        </p:spPr>
        <p:txBody>
          <a:bodyPr/>
          <a:lstStyle/>
          <a:p>
            <a:r>
              <a:rPr lang="en-US" sz="2400" dirty="0"/>
              <a:t>Our application integrates  frontend, backend, AI,  database, and deployment technologies.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0B937F-FEBF-D5B6-B6BF-5ACF588F3A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7111" y="1690688"/>
            <a:ext cx="6445898" cy="4453070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1584666-58E6-3103-09D6-B044DC982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AF69470C-D514-6CB8-F9B0-A8A8FC87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01EC4-9F97-864C-C8E5-23478364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A041B669-E50D-01B7-1228-A9668630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2A8F6C00-D559-4BBC-8C1A-A2D2E1D95D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94D9CA-177E-AF41-A87D-6A332E9A24C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8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0820-06F9-1FE1-C09E-B17FAD9C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136526"/>
            <a:ext cx="11157857" cy="90850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E29EDF-BB47-B551-DF81-A5CDE69E1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232" y="930015"/>
            <a:ext cx="4938580" cy="24989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1E95D-1763-8834-5FD8-4D880130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05/11/2025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EB60-3762-78BD-724D-199E868B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C6EC2-F94A-46CE-6448-E3F01BFF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DE8460-A736-82F3-D902-CB0C6DC7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324" y="986484"/>
            <a:ext cx="5621501" cy="2498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1477E0-E69D-B029-C526-42400C8DE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32" y="3541940"/>
            <a:ext cx="4938579" cy="27014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3C1A48-C439-4ADF-1187-9B9472F13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324" y="3541939"/>
            <a:ext cx="5621501" cy="270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13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E769-CDBA-3918-A246-F720C8CD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7812-4729-0A95-B7F5-2C25A0FA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21" y="17923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4478F-B778-E0F7-563A-74B87F2A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5A305-E091-C999-2288-BC6E8B20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A71CF-8D03-B9EC-A0B4-C20037FA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000460EF-1FC2-B616-D96C-F5D7C7854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DA88F34-AB91-6009-26AE-28EDE3D43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6790" r="8852"/>
          <a:stretch>
            <a:fillRect/>
          </a:stretch>
        </p:blipFill>
        <p:spPr>
          <a:xfrm>
            <a:off x="1463040" y="1318033"/>
            <a:ext cx="8696960" cy="4858930"/>
          </a:xfrm>
        </p:spPr>
      </p:pic>
    </p:spTree>
    <p:extLst>
      <p:ext uri="{BB962C8B-B14F-4D97-AF65-F5344CB8AC3E}">
        <p14:creationId xmlns:p14="http://schemas.microsoft.com/office/powerpoint/2010/main" val="266849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50E58-C5CC-F54B-B5F7-85613792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2C50-B6CF-0120-0CA4-8D51603C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21" y="17923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6E17B-C2F8-33DA-0C08-6AB076F4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BCED1-D99B-38A0-0B15-24B390AD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EA0F0-E199-AA64-745E-AF1FBC11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C98D465F-EB2F-9DD1-6313-1E35BD98B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C8240751-55B0-243B-4198-B7AA22CBE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0565" y="1875453"/>
            <a:ext cx="3282199" cy="298496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5BEF4C-156F-0FE2-8EF6-74C14DD03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585" y="1875453"/>
            <a:ext cx="4260980" cy="2984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6803E1-3DEB-A87E-4392-78E78F1C7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615" y="2197087"/>
            <a:ext cx="4114801" cy="240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1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F4E33-502C-A998-B89C-108690FE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A9E4-5365-5D7B-1E4C-49F67EC6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5718-47D9-8B0D-3991-0669286FB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b="1" dirty="0"/>
              <a:t>Support Dynamic Sign Recognition</a:t>
            </a:r>
            <a:r>
              <a:rPr lang="en-US" dirty="0"/>
              <a:t> by recognizing continuous hand gestures, words, and complete sentences in real time. 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b="1" dirty="0"/>
              <a:t>Expand the PSL Dataset</a:t>
            </a:r>
            <a:r>
              <a:rPr lang="en-US" dirty="0"/>
              <a:t> by incorporating additional vocabulary, phrases, and official Pakistani Sign Language (PSL) signs to improve model coverage and accuracy.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dirty="0"/>
              <a:t> </a:t>
            </a:r>
            <a:r>
              <a:rPr lang="en-US" b="1" dirty="0"/>
              <a:t>Enable Intelligent Sentence Formation</a:t>
            </a:r>
            <a:r>
              <a:rPr lang="en-US" dirty="0"/>
              <a:t> using Natural Language Processing (NLP) to generate grammatically correct and context-aware Urdu sentences. 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b="1" dirty="0"/>
              <a:t>Support Bilingual Translation</a:t>
            </a:r>
            <a:r>
              <a:rPr lang="en-US" dirty="0"/>
              <a:t> by extending the system to generate both </a:t>
            </a:r>
            <a:r>
              <a:rPr lang="en-US" b="1" dirty="0"/>
              <a:t>Urdu</a:t>
            </a:r>
            <a:r>
              <a:rPr lang="en-US" dirty="0"/>
              <a:t> and </a:t>
            </a:r>
            <a:r>
              <a:rPr lang="en-US" b="1" dirty="0"/>
              <a:t>English</a:t>
            </a:r>
            <a:r>
              <a:rPr lang="en-US" dirty="0"/>
              <a:t> text and speech outputs. 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b="1" dirty="0"/>
              <a:t>Deploy as a Scalable Cloud Platform</a:t>
            </a:r>
            <a:r>
              <a:rPr lang="en-US" dirty="0"/>
              <a:t> with enhanced security, user management, and support for a larger number of concurrent users.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3A0AF-1FED-ED1C-A603-193F92D9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PK" dirty="0"/>
              <a:t>/</a:t>
            </a:r>
            <a:r>
              <a:rPr lang="en-US" dirty="0"/>
              <a:t>5</a:t>
            </a:r>
            <a:r>
              <a:rPr lang="en-PK" dirty="0"/>
              <a:t>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0FCDA-4B3F-0F38-057A-4D890690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C41A0-C35F-F9D2-5854-426A8338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 , HITEC University, Taxila</a:t>
            </a:r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4C880D2E-0236-87F8-97AA-2F316C01A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25" y="154153"/>
            <a:ext cx="1401691" cy="140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5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560F-80C5-4E4F-4479-4E2A6C0A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2D85-3F37-B05C-216E-FA2295969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en-PK" dirty="0"/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47C7-B23B-BD4A-3F75-B74434D0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 descr="fav.png">
            <a:extLst>
              <a:ext uri="{FF2B5EF4-FFF2-40B4-BE49-F238E27FC236}">
                <a16:creationId xmlns:a16="http://schemas.microsoft.com/office/drawing/2014/main" id="{98A5465E-A4AA-A071-D623-554843C1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029" y="45161"/>
            <a:ext cx="1401691" cy="14016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91D7843-31AF-DFCB-9363-7D498F8C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17525"/>
            <a:ext cx="105156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3CCF00-3C6C-46C7-E7C9-279BC4FAFDA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El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Rwelli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T. Mahmoud, and H. M. Ahmed, “Glove-based CNN system for Arabic Sign Language recognition and voice translation,” J. Ambient Intell.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11, pp. 1234–1245, 2020.</a:t>
            </a:r>
            <a:endParaRPr lang="en-P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Imran, A. Razzaq, I. A. Baig, A. Hussain, S. Shahid, and T. Rehman ur, “Dataset of Pakistan Sign Language and automatic recognition of hand configuration of Urdu alphabet through machine learning,” Data Brief, vol. 36, 2021.</a:t>
            </a:r>
            <a:endParaRPr lang="en-P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Nasharudin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A. Shafie, and S. Hussain, “YOLO-based deep neural network for American Sign     Language alphabet recognition,” J. Intell. Fuzzy Syst., vol. 41, no. 2, pp. 2699–2711, 2021.</a:t>
            </a:r>
            <a:endParaRPr lang="en-P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P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Kumari and A. Anand, “Hybrid CNN–LSTM model for sign language recognition using the WLASL dataset,” Multimedia Tools Appl., vol. 81, no. 19, pp. 26945–26962, 2022.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M. Hamza and A. Wali, “Pakistan sign language recognition: leveraging deep learning models with a limited dataset,” Mach. Vis. Appl., vol. 34, no. 5, p. 71, 2024.</a:t>
            </a:r>
            <a:endParaRPr lang="en-P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6A6DE75-C7E6-B5DC-E459-3F971256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600" y="6508750"/>
            <a:ext cx="2743200" cy="365125"/>
          </a:xfrm>
        </p:spPr>
        <p:txBody>
          <a:bodyPr/>
          <a:lstStyle/>
          <a:p>
            <a:r>
              <a:rPr lang="en-US" dirty="0"/>
              <a:t>28</a:t>
            </a:r>
            <a:r>
              <a:rPr lang="en-PK" dirty="0"/>
              <a:t>/</a:t>
            </a:r>
            <a:r>
              <a:rPr lang="en-US" dirty="0"/>
              <a:t>0</a:t>
            </a:r>
            <a:r>
              <a:rPr lang="en-PK" dirty="0"/>
              <a:t>1/202</a:t>
            </a:r>
            <a:r>
              <a:rPr lang="en-US" dirty="0"/>
              <a:t>6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ABEC508-CCFD-49D8-3744-1F8DC53E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508750"/>
            <a:ext cx="4114800" cy="365125"/>
          </a:xfrm>
        </p:spPr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</p:spTree>
    <p:extLst>
      <p:ext uri="{BB962C8B-B14F-4D97-AF65-F5344CB8AC3E}">
        <p14:creationId xmlns:p14="http://schemas.microsoft.com/office/powerpoint/2010/main" val="142558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C66A3-65DE-B36B-E432-4AE22531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28</a:t>
            </a:r>
            <a:r>
              <a:rPr lang="en-PK" dirty="0"/>
              <a:t>/1/202</a:t>
            </a:r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4270B-1589-BEC8-8899-FB80A79B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, HITEC University, Taxila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D81C4-A12E-2AD3-FFE9-BB8D0F82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C4C87-3A01-7122-11D5-1A726F0E2BA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2"/>
            <a:ext cx="12192000" cy="4571071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/>
              <a:t>Thank You</a:t>
            </a:r>
          </a:p>
        </p:txBody>
      </p:sp>
      <p:pic>
        <p:nvPicPr>
          <p:cNvPr id="3" name="Picture 2" descr="fav.png">
            <a:extLst>
              <a:ext uri="{FF2B5EF4-FFF2-40B4-BE49-F238E27FC236}">
                <a16:creationId xmlns:a16="http://schemas.microsoft.com/office/drawing/2014/main" id="{3112EC95-0D80-35CF-CA5A-00D50DEA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029" y="45161"/>
            <a:ext cx="1401691" cy="140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6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815</Words>
  <Application>Microsoft Office PowerPoint</Application>
  <PresentationFormat>Widescreen</PresentationFormat>
  <Paragraphs>91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LinguaSign: An AI-Based Vision-Language System for Real-Time Sign-to-Speech Conversion </vt:lpstr>
      <vt:lpstr>Problem Statement </vt:lpstr>
      <vt:lpstr>Achieved Objectives</vt:lpstr>
      <vt:lpstr>Proposed Methodology</vt:lpstr>
      <vt:lpstr>AI Model </vt:lpstr>
      <vt:lpstr>MODEL WORKING</vt:lpstr>
      <vt:lpstr> Technology Stack</vt:lpstr>
      <vt:lpstr>Key Features </vt:lpstr>
      <vt:lpstr> Confusion matrix </vt:lpstr>
      <vt:lpstr> Results  </vt:lpstr>
      <vt:lpstr>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creator>Dr. Hashim Ali</dc:creator>
  <cp:lastModifiedBy>waqas khan</cp:lastModifiedBy>
  <cp:revision>42</cp:revision>
  <dcterms:created xsi:type="dcterms:W3CDTF">2016-07-14T13:09:07Z</dcterms:created>
  <dcterms:modified xsi:type="dcterms:W3CDTF">2026-07-31T08:11:44Z</dcterms:modified>
</cp:coreProperties>
</file>